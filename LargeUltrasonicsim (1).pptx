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7" r:id="rId5"/>
    <p:sldId id="258" r:id="rId6"/>
    <p:sldId id="264" r:id="rId7"/>
    <p:sldId id="266" r:id="rId8"/>
    <p:sldId id="267" r:id="rId9"/>
    <p:sldId id="268" r:id="rId10"/>
    <p:sldId id="269" r:id="rId11"/>
    <p:sldId id="270" r:id="rId12"/>
    <p:sldId id="271" r:id="rId13"/>
    <p:sldId id="256" r:id="rId14"/>
    <p:sldId id="2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F45244-4162-4C05-9269-D3048CF969C2}" v="66" dt="2023-12-07T16:36:06.762"/>
    <p1510:client id="{1D9037F4-DD0B-48EF-AB9A-5EB60254A60B}" v="68" dt="2023-12-07T22:18:40.048"/>
    <p1510:client id="{329A78FC-F050-4EBC-ABB2-A003DA83EC6D}" v="8" dt="2023-12-07T18:57:34.605"/>
    <p1510:client id="{4DADD01A-C17D-4FF0-BC19-182F3F547267}" v="16" dt="2023-12-07T18:13:02.796"/>
    <p1510:client id="{96C5B16E-92D0-4E6C-A5BF-63F3C1B0ABB0}" v="264" dt="2023-12-07T22:17:15.6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haya, Abdul Wasit" userId="S::m962g264@wichita.edu::f88f2b16-6331-465b-a084-04fa8c7d322c" providerId="AD" clId="Web-{96C5B16E-92D0-4E6C-A5BF-63F3C1B0ABB0}"/>
    <pc:docChg chg="addSld modSld sldOrd">
      <pc:chgData name="Yahaya, Abdul Wasit" userId="S::m962g264@wichita.edu::f88f2b16-6331-465b-a084-04fa8c7d322c" providerId="AD" clId="Web-{96C5B16E-92D0-4E6C-A5BF-63F3C1B0ABB0}" dt="2023-12-07T22:16:59.707" v="261" actId="20577"/>
      <pc:docMkLst>
        <pc:docMk/>
      </pc:docMkLst>
      <pc:sldChg chg="modSp ord">
        <pc:chgData name="Yahaya, Abdul Wasit" userId="S::m962g264@wichita.edu::f88f2b16-6331-465b-a084-04fa8c7d322c" providerId="AD" clId="Web-{96C5B16E-92D0-4E6C-A5BF-63F3C1B0ABB0}" dt="2023-12-07T22:01:12.388" v="80" actId="20577"/>
        <pc:sldMkLst>
          <pc:docMk/>
          <pc:sldMk cId="765763925" sldId="264"/>
        </pc:sldMkLst>
        <pc:spChg chg="mod">
          <ac:chgData name="Yahaya, Abdul Wasit" userId="S::m962g264@wichita.edu::f88f2b16-6331-465b-a084-04fa8c7d322c" providerId="AD" clId="Web-{96C5B16E-92D0-4E6C-A5BF-63F3C1B0ABB0}" dt="2023-12-07T21:57:40.145" v="6" actId="20577"/>
          <ac:spMkLst>
            <pc:docMk/>
            <pc:sldMk cId="765763925" sldId="264"/>
            <ac:spMk id="2" creationId="{A3B7A784-5541-5C26-320C-4D9A7565CD79}"/>
          </ac:spMkLst>
        </pc:spChg>
        <pc:spChg chg="mod">
          <ac:chgData name="Yahaya, Abdul Wasit" userId="S::m962g264@wichita.edu::f88f2b16-6331-465b-a084-04fa8c7d322c" providerId="AD" clId="Web-{96C5B16E-92D0-4E6C-A5BF-63F3C1B0ABB0}" dt="2023-12-07T22:01:12.388" v="80" actId="20577"/>
          <ac:spMkLst>
            <pc:docMk/>
            <pc:sldMk cId="765763925" sldId="264"/>
            <ac:spMk id="3" creationId="{E5B5C4D5-4ED3-E3B5-9654-3B30EB3352F1}"/>
          </ac:spMkLst>
        </pc:spChg>
      </pc:sldChg>
      <pc:sldChg chg="modSp ord">
        <pc:chgData name="Yahaya, Abdul Wasit" userId="S::m962g264@wichita.edu::f88f2b16-6331-465b-a084-04fa8c7d322c" providerId="AD" clId="Web-{96C5B16E-92D0-4E6C-A5BF-63F3C1B0ABB0}" dt="2023-12-07T22:06:23.807" v="136" actId="20577"/>
        <pc:sldMkLst>
          <pc:docMk/>
          <pc:sldMk cId="1995321341" sldId="266"/>
        </pc:sldMkLst>
        <pc:spChg chg="mod">
          <ac:chgData name="Yahaya, Abdul Wasit" userId="S::m962g264@wichita.edu::f88f2b16-6331-465b-a084-04fa8c7d322c" providerId="AD" clId="Web-{96C5B16E-92D0-4E6C-A5BF-63F3C1B0ABB0}" dt="2023-12-07T22:02:34.891" v="89" actId="20577"/>
          <ac:spMkLst>
            <pc:docMk/>
            <pc:sldMk cId="1995321341" sldId="266"/>
            <ac:spMk id="2" creationId="{5C2287F4-E3EA-0C81-068F-0FC0FE91F875}"/>
          </ac:spMkLst>
        </pc:spChg>
        <pc:spChg chg="mod">
          <ac:chgData name="Yahaya, Abdul Wasit" userId="S::m962g264@wichita.edu::f88f2b16-6331-465b-a084-04fa8c7d322c" providerId="AD" clId="Web-{96C5B16E-92D0-4E6C-A5BF-63F3C1B0ABB0}" dt="2023-12-07T22:06:23.807" v="136" actId="20577"/>
          <ac:spMkLst>
            <pc:docMk/>
            <pc:sldMk cId="1995321341" sldId="266"/>
            <ac:spMk id="3" creationId="{5D9CE7AB-E182-7DB5-0166-4884638DAB4A}"/>
          </ac:spMkLst>
        </pc:spChg>
      </pc:sldChg>
      <pc:sldChg chg="modSp new">
        <pc:chgData name="Yahaya, Abdul Wasit" userId="S::m962g264@wichita.edu::f88f2b16-6331-465b-a084-04fa8c7d322c" providerId="AD" clId="Web-{96C5B16E-92D0-4E6C-A5BF-63F3C1B0ABB0}" dt="2023-12-07T22:09:43.268" v="173" actId="14100"/>
        <pc:sldMkLst>
          <pc:docMk/>
          <pc:sldMk cId="3481554238" sldId="267"/>
        </pc:sldMkLst>
        <pc:spChg chg="mod">
          <ac:chgData name="Yahaya, Abdul Wasit" userId="S::m962g264@wichita.edu::f88f2b16-6331-465b-a084-04fa8c7d322c" providerId="AD" clId="Web-{96C5B16E-92D0-4E6C-A5BF-63F3C1B0ABB0}" dt="2023-12-07T22:06:40.307" v="143" actId="20577"/>
          <ac:spMkLst>
            <pc:docMk/>
            <pc:sldMk cId="3481554238" sldId="267"/>
            <ac:spMk id="2" creationId="{ECFBBE0F-F66D-FF1F-6EB4-0561CA695DC5}"/>
          </ac:spMkLst>
        </pc:spChg>
        <pc:spChg chg="mod">
          <ac:chgData name="Yahaya, Abdul Wasit" userId="S::m962g264@wichita.edu::f88f2b16-6331-465b-a084-04fa8c7d322c" providerId="AD" clId="Web-{96C5B16E-92D0-4E6C-A5BF-63F3C1B0ABB0}" dt="2023-12-07T22:09:43.268" v="173" actId="14100"/>
          <ac:spMkLst>
            <pc:docMk/>
            <pc:sldMk cId="3481554238" sldId="267"/>
            <ac:spMk id="3" creationId="{06717DB2-76CF-2D3C-EC60-371AA8AB7A48}"/>
          </ac:spMkLst>
        </pc:spChg>
      </pc:sldChg>
      <pc:sldChg chg="modSp new">
        <pc:chgData name="Yahaya, Abdul Wasit" userId="S::m962g264@wichita.edu::f88f2b16-6331-465b-a084-04fa8c7d322c" providerId="AD" clId="Web-{96C5B16E-92D0-4E6C-A5BF-63F3C1B0ABB0}" dt="2023-12-07T22:12:03.758" v="204" actId="20577"/>
        <pc:sldMkLst>
          <pc:docMk/>
          <pc:sldMk cId="1530454083" sldId="268"/>
        </pc:sldMkLst>
        <pc:spChg chg="mod">
          <ac:chgData name="Yahaya, Abdul Wasit" userId="S::m962g264@wichita.edu::f88f2b16-6331-465b-a084-04fa8c7d322c" providerId="AD" clId="Web-{96C5B16E-92D0-4E6C-A5BF-63F3C1B0ABB0}" dt="2023-12-07T22:10:49.661" v="181" actId="20577"/>
          <ac:spMkLst>
            <pc:docMk/>
            <pc:sldMk cId="1530454083" sldId="268"/>
            <ac:spMk id="2" creationId="{A0C4318E-B349-F75F-6E1D-68A964359E2A}"/>
          </ac:spMkLst>
        </pc:spChg>
        <pc:spChg chg="mod">
          <ac:chgData name="Yahaya, Abdul Wasit" userId="S::m962g264@wichita.edu::f88f2b16-6331-465b-a084-04fa8c7d322c" providerId="AD" clId="Web-{96C5B16E-92D0-4E6C-A5BF-63F3C1B0ABB0}" dt="2023-12-07T22:12:03.758" v="204" actId="20577"/>
          <ac:spMkLst>
            <pc:docMk/>
            <pc:sldMk cId="1530454083" sldId="268"/>
            <ac:spMk id="3" creationId="{F3B68C30-F6AB-8F04-AAA9-84497F6A7CE9}"/>
          </ac:spMkLst>
        </pc:spChg>
      </pc:sldChg>
      <pc:sldChg chg="modSp new">
        <pc:chgData name="Yahaya, Abdul Wasit" userId="S::m962g264@wichita.edu::f88f2b16-6331-465b-a084-04fa8c7d322c" providerId="AD" clId="Web-{96C5B16E-92D0-4E6C-A5BF-63F3C1B0ABB0}" dt="2023-12-07T22:13:36.418" v="221" actId="20577"/>
        <pc:sldMkLst>
          <pc:docMk/>
          <pc:sldMk cId="1511066517" sldId="269"/>
        </pc:sldMkLst>
        <pc:spChg chg="mod">
          <ac:chgData name="Yahaya, Abdul Wasit" userId="S::m962g264@wichita.edu::f88f2b16-6331-465b-a084-04fa8c7d322c" providerId="AD" clId="Web-{96C5B16E-92D0-4E6C-A5BF-63F3C1B0ABB0}" dt="2023-12-07T22:13:36.418" v="221" actId="20577"/>
          <ac:spMkLst>
            <pc:docMk/>
            <pc:sldMk cId="1511066517" sldId="269"/>
            <ac:spMk id="3" creationId="{DFA23A52-D14D-1231-33A3-791BAD93CF77}"/>
          </ac:spMkLst>
        </pc:spChg>
      </pc:sldChg>
      <pc:sldChg chg="modSp new">
        <pc:chgData name="Yahaya, Abdul Wasit" userId="S::m962g264@wichita.edu::f88f2b16-6331-465b-a084-04fa8c7d322c" providerId="AD" clId="Web-{96C5B16E-92D0-4E6C-A5BF-63F3C1B0ABB0}" dt="2023-12-07T22:15:14.859" v="252" actId="14100"/>
        <pc:sldMkLst>
          <pc:docMk/>
          <pc:sldMk cId="4202435824" sldId="270"/>
        </pc:sldMkLst>
        <pc:spChg chg="mod">
          <ac:chgData name="Yahaya, Abdul Wasit" userId="S::m962g264@wichita.edu::f88f2b16-6331-465b-a084-04fa8c7d322c" providerId="AD" clId="Web-{96C5B16E-92D0-4E6C-A5BF-63F3C1B0ABB0}" dt="2023-12-07T22:14:07.747" v="228" actId="20577"/>
          <ac:spMkLst>
            <pc:docMk/>
            <pc:sldMk cId="4202435824" sldId="270"/>
            <ac:spMk id="2" creationId="{380F3AC0-2957-D888-4B74-7993E81A27F8}"/>
          </ac:spMkLst>
        </pc:spChg>
        <pc:spChg chg="mod">
          <ac:chgData name="Yahaya, Abdul Wasit" userId="S::m962g264@wichita.edu::f88f2b16-6331-465b-a084-04fa8c7d322c" providerId="AD" clId="Web-{96C5B16E-92D0-4E6C-A5BF-63F3C1B0ABB0}" dt="2023-12-07T22:15:14.859" v="252" actId="14100"/>
          <ac:spMkLst>
            <pc:docMk/>
            <pc:sldMk cId="4202435824" sldId="270"/>
            <ac:spMk id="3" creationId="{6A4C287A-C0E2-D969-3EF6-BF9498A0666B}"/>
          </ac:spMkLst>
        </pc:spChg>
      </pc:sldChg>
      <pc:sldChg chg="modSp">
        <pc:chgData name="Yahaya, Abdul Wasit" userId="S::m962g264@wichita.edu::f88f2b16-6331-465b-a084-04fa8c7d322c" providerId="AD" clId="Web-{96C5B16E-92D0-4E6C-A5BF-63F3C1B0ABB0}" dt="2023-12-07T22:16:59.707" v="261" actId="20577"/>
        <pc:sldMkLst>
          <pc:docMk/>
          <pc:sldMk cId="1650431041" sldId="271"/>
        </pc:sldMkLst>
        <pc:spChg chg="mod">
          <ac:chgData name="Yahaya, Abdul Wasit" userId="S::m962g264@wichita.edu::f88f2b16-6331-465b-a084-04fa8c7d322c" providerId="AD" clId="Web-{96C5B16E-92D0-4E6C-A5BF-63F3C1B0ABB0}" dt="2023-12-07T22:16:59.707" v="261" actId="20577"/>
          <ac:spMkLst>
            <pc:docMk/>
            <pc:sldMk cId="1650431041" sldId="271"/>
            <ac:spMk id="3" creationId="{9C861270-786E-C2EA-B6BB-0BE05637B83F}"/>
          </ac:spMkLst>
        </pc:spChg>
      </pc:sldChg>
    </pc:docChg>
  </pc:docChgLst>
  <pc:docChgLst>
    <pc:chgData name="Freeman, Seth" userId="S::e799e662@wichita.edu::c2695ea5-ee68-4350-a815-d2cdaf21d446" providerId="AD" clId="Web-{1D9037F4-DD0B-48EF-AB9A-5EB60254A60B}"/>
    <pc:docChg chg="addSld delSld modSld">
      <pc:chgData name="Freeman, Seth" userId="S::e799e662@wichita.edu::c2695ea5-ee68-4350-a815-d2cdaf21d446" providerId="AD" clId="Web-{1D9037F4-DD0B-48EF-AB9A-5EB60254A60B}" dt="2023-12-07T22:18:40.048" v="65"/>
      <pc:docMkLst>
        <pc:docMk/>
      </pc:docMkLst>
      <pc:sldChg chg="modSp">
        <pc:chgData name="Freeman, Seth" userId="S::e799e662@wichita.edu::c2695ea5-ee68-4350-a815-d2cdaf21d446" providerId="AD" clId="Web-{1D9037F4-DD0B-48EF-AB9A-5EB60254A60B}" dt="2023-12-07T22:18:21.688" v="59" actId="20577"/>
        <pc:sldMkLst>
          <pc:docMk/>
          <pc:sldMk cId="2826804957" sldId="256"/>
        </pc:sldMkLst>
        <pc:spChg chg="mod">
          <ac:chgData name="Freeman, Seth" userId="S::e799e662@wichita.edu::c2695ea5-ee68-4350-a815-d2cdaf21d446" providerId="AD" clId="Web-{1D9037F4-DD0B-48EF-AB9A-5EB60254A60B}" dt="2023-12-07T22:18:21.688" v="59" actId="20577"/>
          <ac:spMkLst>
            <pc:docMk/>
            <pc:sldMk cId="2826804957" sldId="256"/>
            <ac:spMk id="5" creationId="{35A8DD95-FCBC-B144-AE89-FAB980D9AAC2}"/>
          </ac:spMkLst>
        </pc:spChg>
      </pc:sldChg>
      <pc:sldChg chg="addSp delSp modSp mod setBg">
        <pc:chgData name="Freeman, Seth" userId="S::e799e662@wichita.edu::c2695ea5-ee68-4350-a815-d2cdaf21d446" providerId="AD" clId="Web-{1D9037F4-DD0B-48EF-AB9A-5EB60254A60B}" dt="2023-12-07T22:09:58.733" v="47" actId="14100"/>
        <pc:sldMkLst>
          <pc:docMk/>
          <pc:sldMk cId="765763925" sldId="264"/>
        </pc:sldMkLst>
        <pc:spChg chg="mod">
          <ac:chgData name="Freeman, Seth" userId="S::e799e662@wichita.edu::c2695ea5-ee68-4350-a815-d2cdaf21d446" providerId="AD" clId="Web-{1D9037F4-DD0B-48EF-AB9A-5EB60254A60B}" dt="2023-12-07T22:09:38.935" v="42" actId="14100"/>
          <ac:spMkLst>
            <pc:docMk/>
            <pc:sldMk cId="765763925" sldId="264"/>
            <ac:spMk id="3" creationId="{E5B5C4D5-4ED3-E3B5-9654-3B30EB3352F1}"/>
          </ac:spMkLst>
        </pc:spChg>
        <pc:spChg chg="add del">
          <ac:chgData name="Freeman, Seth" userId="S::e799e662@wichita.edu::c2695ea5-ee68-4350-a815-d2cdaf21d446" providerId="AD" clId="Web-{1D9037F4-DD0B-48EF-AB9A-5EB60254A60B}" dt="2023-12-07T22:09:30.497" v="39"/>
          <ac:spMkLst>
            <pc:docMk/>
            <pc:sldMk cId="765763925" sldId="264"/>
            <ac:spMk id="4" creationId="{3736C76B-4BD0-7D78-4109-2C62871EE7E3}"/>
          </ac:spMkLst>
        </pc:spChg>
        <pc:picChg chg="add mod">
          <ac:chgData name="Freeman, Seth" userId="S::e799e662@wichita.edu::c2695ea5-ee68-4350-a815-d2cdaf21d446" providerId="AD" clId="Web-{1D9037F4-DD0B-48EF-AB9A-5EB60254A60B}" dt="2023-12-07T22:09:58.733" v="47" actId="14100"/>
          <ac:picMkLst>
            <pc:docMk/>
            <pc:sldMk cId="765763925" sldId="264"/>
            <ac:picMk id="5" creationId="{473C9D42-5B4F-8E0C-05CC-7435CA7D4857}"/>
          </ac:picMkLst>
        </pc:picChg>
      </pc:sldChg>
      <pc:sldChg chg="modSp new">
        <pc:chgData name="Freeman, Seth" userId="S::e799e662@wichita.edu::c2695ea5-ee68-4350-a815-d2cdaf21d446" providerId="AD" clId="Web-{1D9037F4-DD0B-48EF-AB9A-5EB60254A60B}" dt="2023-12-07T22:17:03.342" v="57" actId="20577"/>
        <pc:sldMkLst>
          <pc:docMk/>
          <pc:sldMk cId="1650431041" sldId="271"/>
        </pc:sldMkLst>
        <pc:spChg chg="mod">
          <ac:chgData name="Freeman, Seth" userId="S::e799e662@wichita.edu::c2695ea5-ee68-4350-a815-d2cdaf21d446" providerId="AD" clId="Web-{1D9037F4-DD0B-48EF-AB9A-5EB60254A60B}" dt="2023-12-07T22:17:03.342" v="57" actId="20577"/>
          <ac:spMkLst>
            <pc:docMk/>
            <pc:sldMk cId="1650431041" sldId="271"/>
            <ac:spMk id="2" creationId="{A3F39830-033F-10F0-53E3-04A19E944FEE}"/>
          </ac:spMkLst>
        </pc:spChg>
        <pc:spChg chg="mod">
          <ac:chgData name="Freeman, Seth" userId="S::e799e662@wichita.edu::c2695ea5-ee68-4350-a815-d2cdaf21d446" providerId="AD" clId="Web-{1D9037F4-DD0B-48EF-AB9A-5EB60254A60B}" dt="2023-12-07T22:16:15.981" v="50" actId="20577"/>
          <ac:spMkLst>
            <pc:docMk/>
            <pc:sldMk cId="1650431041" sldId="271"/>
            <ac:spMk id="3" creationId="{9C861270-786E-C2EA-B6BB-0BE05637B83F}"/>
          </ac:spMkLst>
        </pc:spChg>
      </pc:sldChg>
      <pc:sldChg chg="modSp new del">
        <pc:chgData name="Freeman, Seth" userId="S::e799e662@wichita.edu::c2695ea5-ee68-4350-a815-d2cdaf21d446" providerId="AD" clId="Web-{1D9037F4-DD0B-48EF-AB9A-5EB60254A60B}" dt="2023-12-07T22:18:40.048" v="65"/>
        <pc:sldMkLst>
          <pc:docMk/>
          <pc:sldMk cId="959916306" sldId="272"/>
        </pc:sldMkLst>
        <pc:spChg chg="mod">
          <ac:chgData name="Freeman, Seth" userId="S::e799e662@wichita.edu::c2695ea5-ee68-4350-a815-d2cdaf21d446" providerId="AD" clId="Web-{1D9037F4-DD0B-48EF-AB9A-5EB60254A60B}" dt="2023-12-07T22:18:26.391" v="64" actId="20577"/>
          <ac:spMkLst>
            <pc:docMk/>
            <pc:sldMk cId="959916306" sldId="272"/>
            <ac:spMk id="2" creationId="{A8036C02-73EE-DB5F-4C83-10E57042AE6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5E549EA-A729-3D45-8B4D-22B7EBF5C6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97E04D-ECCF-9144-940C-119F342EF95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43F512-30E2-3F46-8010-5659AF98CC34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0344F1-5767-0541-B208-C6A9788E85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6DBA68-A779-A547-8605-413DDCAEB5E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A2CB1-9001-FD49-B675-3F6AB6B0D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0826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3E9FAA-CE99-9243-980C-708A50330DCB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66AF33-FE8D-0F43-AD85-A52C3F99E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18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02AFA-44D0-F744-8BDD-C2802771C1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503487"/>
            <a:ext cx="9144000" cy="10064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Title of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ABA64A-8634-5140-B60F-09086C669D5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Presenter’s Name</a:t>
            </a:r>
          </a:p>
          <a:p>
            <a:r>
              <a:rPr lang="en-US"/>
              <a:t>Title, Department</a:t>
            </a:r>
          </a:p>
          <a:p>
            <a:r>
              <a:rPr lang="en-US"/>
              <a:t>Date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3B9D1-8415-1B44-B6D1-308A9D4A6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4A545-610A-3246-BBF7-82AC132EB6A8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19443-4DC4-404B-8FFB-AAEF9ABDE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D4938-7FDF-B04D-A213-F8160A6F1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47F3-F4BF-2C46-AC54-645A1178D8F6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The logo for Wichita State University." title="Wichita State University Logo">
            <a:extLst>
              <a:ext uri="{FF2B5EF4-FFF2-40B4-BE49-F238E27FC236}">
                <a16:creationId xmlns:a16="http://schemas.microsoft.com/office/drawing/2014/main" id="{1ADE4355-A3B2-6449-9D1C-9F7D8F1789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01073" y="1192211"/>
            <a:ext cx="4189854" cy="965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129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4AE9C-BCE1-134F-9AA5-36AC0166BA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0" y="300039"/>
            <a:ext cx="8503920" cy="9572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1-Column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2DADA-DA3F-374B-8A2B-B0B5F1A463F1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57CC7-E80B-4E43-9A8C-58FE70FDA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4A545-610A-3246-BBF7-82AC132EB6A8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4C005-7FB8-3D4C-96BE-CD8E4D136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D0C98-1C77-A04F-96D7-2FB871DF4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47F3-F4BF-2C46-AC54-645A1178D8F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901733-A319-1049-88B3-3DD8B2790C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2270" y="132080"/>
            <a:ext cx="1113411" cy="98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457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DDA10-D4F1-1246-AC76-4E99217B7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0" y="301752"/>
            <a:ext cx="8503920" cy="9601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2-Column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7A247-7DFC-E446-938A-2CA021AE3ED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5206B-3FC0-CE41-90B0-155B2B1C6F2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F86D33-CD83-4040-BB1F-306A4D9B8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4A545-610A-3246-BBF7-82AC132EB6A8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CB5D88-544F-964C-84FC-051762122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67E06-089A-6846-8B48-B3A0F23DC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47F3-F4BF-2C46-AC54-645A1178D8F6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765500-5B28-AC4E-BB14-D469D05680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2270" y="132080"/>
            <a:ext cx="1113411" cy="98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98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B0318-CC45-A342-AEE3-670F36387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Divider Slide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57E59-4F7B-3B4C-B9E7-67DE80EDB61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Or Alternative Title Slide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DE7E8-47E7-104E-BF54-359C263C9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4A545-610A-3246-BBF7-82AC132EB6A8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DE16E-EEEB-F04D-B629-FBE01C97F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47F99-D730-2641-86EF-84BCC74BA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47F3-F4BF-2C46-AC54-645A1178D8F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2C809D-321E-F346-A4DE-20D8E77C95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2270" y="132080"/>
            <a:ext cx="1113411" cy="98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550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EE8205-8020-9E43-BDC9-8F0646FB4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D0D22-4086-394C-A571-C6BB444D3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091FC-EF27-E34B-B5FE-194D933C90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4A545-610A-3246-BBF7-82AC132EB6A8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71301-3F06-5A49-A699-BBCBCEEE5F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4BA5A-8069-9D49-A99F-3AD1783CE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F147F3-F4BF-2C46-AC54-645A1178D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485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youryoku8/LargeUltrasonicSi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F625E-16C0-6848-9149-8A5E0FFB6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6342" y="2800853"/>
            <a:ext cx="10621536" cy="1062231"/>
          </a:xfrm>
        </p:spPr>
        <p:txBody>
          <a:bodyPr>
            <a:normAutofit/>
          </a:bodyPr>
          <a:lstStyle/>
          <a:p>
            <a:r>
              <a:rPr lang="en-US" sz="3600" b="1">
                <a:ea typeface="Calibri Light"/>
                <a:cs typeface="Calibri Light"/>
              </a:rPr>
              <a:t>SIMULATION FOR LARGE ULTRASONIC ARRAYS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98A760-BA7F-FA50-FF72-797932A61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98574"/>
            <a:ext cx="9144000" cy="559226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1800" dirty="0">
                <a:ea typeface="Calibri"/>
                <a:cs typeface="Calibri"/>
              </a:rPr>
              <a:t>By: </a:t>
            </a:r>
            <a:r>
              <a:rPr lang="en-US" sz="16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Seth Freeman,</a:t>
            </a:r>
            <a:r>
              <a:rPr lang="en-US" sz="16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Richard Sack,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Hayden Thurman, Abdul Wasit Yahaya, Joshua Mcclure, Ethan Higginbotham</a:t>
            </a:r>
          </a:p>
          <a:p>
            <a:pPr algn="l"/>
            <a:endParaRPr lang="en-US" sz="1050" b="1" i="0" dirty="0">
              <a:effectLst/>
              <a:latin typeface="-apple-system"/>
            </a:endParaRPr>
          </a:p>
          <a:p>
            <a:pPr algn="l"/>
            <a:endParaRPr lang="en-US" sz="1200" b="1" i="0" dirty="0">
              <a:effectLst/>
            </a:endParaRPr>
          </a:p>
          <a:p>
            <a:endParaRPr lang="en-US" sz="1100" b="1" i="0" dirty="0">
              <a:effectLst/>
              <a:latin typeface="-apple-system"/>
            </a:endParaRPr>
          </a:p>
          <a:p>
            <a:endParaRPr lang="en-US" sz="1400" b="1" i="0" dirty="0">
              <a:effectLst/>
              <a:latin typeface="-apple-system"/>
            </a:endParaRPr>
          </a:p>
          <a:p>
            <a:endParaRPr lang="en-US" sz="1800" dirty="0">
              <a:ea typeface="Calibri"/>
              <a:cs typeface="Calibri"/>
            </a:endParaRPr>
          </a:p>
          <a:p>
            <a:r>
              <a:rPr lang="en-US" sz="2000" dirty="0">
                <a:ea typeface="Calibri"/>
                <a:cs typeface="Calibri"/>
              </a:rPr>
              <a:t>Group work</a:t>
            </a:r>
          </a:p>
        </p:txBody>
      </p:sp>
    </p:spTree>
    <p:extLst>
      <p:ext uri="{BB962C8B-B14F-4D97-AF65-F5344CB8AC3E}">
        <p14:creationId xmlns:p14="http://schemas.microsoft.com/office/powerpoint/2010/main" val="1175415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57E9D-E583-C66D-54C2-F30995F5D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EB9D2-990C-242A-BC44-5DB8F5694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To generate a 3D field of sound waves and the pressure at each point.</a:t>
            </a:r>
          </a:p>
          <a:p>
            <a:r>
              <a:rPr lang="en-US"/>
              <a:t>Use a GUI to generate a 3D-plot using Spatial data</a:t>
            </a:r>
          </a:p>
          <a:p>
            <a:r>
              <a:rPr lang="en-US"/>
              <a:t>Use a for large data analysis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899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7A784-5541-5C26-320C-4D9A7565C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3526" y="300039"/>
            <a:ext cx="8658249" cy="716123"/>
          </a:xfrm>
        </p:spPr>
        <p:txBody>
          <a:bodyPr/>
          <a:lstStyle/>
          <a:p>
            <a:r>
              <a:rPr lang="en-US">
                <a:cs typeface="Calibri Light"/>
              </a:rPr>
              <a:t>Codes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5C4D5-4ED3-E3B5-9654-3B30EB335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8450"/>
            <a:ext cx="4924425" cy="45704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cs typeface="Calibri"/>
              </a:rPr>
              <a:t>The entire simulation was based on 8 different python scripts:</a:t>
            </a:r>
          </a:p>
          <a:p>
            <a:pPr marL="457200" indent="-457200">
              <a:buAutoNum type="alphaLcPeriod"/>
            </a:pPr>
            <a:r>
              <a:rPr lang="en-US" sz="2000">
                <a:solidFill>
                  <a:srgbClr val="1F2328"/>
                </a:solidFill>
                <a:ea typeface="+mn-lt"/>
                <a:cs typeface="+mn-lt"/>
              </a:rPr>
              <a:t>Calculation_dialog.py </a:t>
            </a:r>
            <a:endParaRPr lang="en-US" sz="2000">
              <a:cs typeface="Calibri"/>
            </a:endParaRPr>
          </a:p>
          <a:p>
            <a:pPr marL="514350" indent="-514350">
              <a:buAutoNum type="alphaLcPeriod"/>
            </a:pPr>
            <a:r>
              <a:rPr lang="en-US" sz="2000">
                <a:ea typeface="+mn-lt"/>
                <a:cs typeface="+mn-lt"/>
              </a:rPr>
              <a:t>data_entry.py</a:t>
            </a:r>
          </a:p>
          <a:p>
            <a:pPr marL="514350" indent="-514350">
              <a:buAutoNum type="alphaLcPeriod"/>
            </a:pPr>
            <a:r>
              <a:rPr lang="en-US" sz="2000">
                <a:ea typeface="+mn-lt"/>
                <a:cs typeface="+mn-lt"/>
              </a:rPr>
              <a:t>data_entry_tree_view.py</a:t>
            </a:r>
          </a:p>
          <a:p>
            <a:pPr marL="514350" indent="-514350">
              <a:buAutoNum type="alphaLcPeriod"/>
            </a:pPr>
            <a:r>
              <a:rPr lang="en-US" sz="2000">
                <a:ea typeface="+mn-lt"/>
                <a:cs typeface="+mn-lt"/>
              </a:rPr>
              <a:t>data_processsing.py</a:t>
            </a:r>
          </a:p>
          <a:p>
            <a:pPr marL="514350" indent="-514350">
              <a:buAutoNum type="alphaLcPeriod"/>
            </a:pPr>
            <a:r>
              <a:rPr lang="en-US" sz="2000">
                <a:ea typeface="+mn-lt"/>
                <a:cs typeface="+mn-lt"/>
              </a:rPr>
              <a:t>File_operations.py</a:t>
            </a:r>
          </a:p>
          <a:p>
            <a:pPr marL="514350" indent="-514350">
              <a:buAutoNum type="alphaLcPeriod"/>
            </a:pPr>
            <a:r>
              <a:rPr lang="en-US" sz="2000">
                <a:ea typeface="+mn-lt"/>
                <a:cs typeface="+mn-lt"/>
              </a:rPr>
              <a:t>main_application.py</a:t>
            </a:r>
            <a:endParaRPr lang="en-US" sz="2000">
              <a:cs typeface="Calibri"/>
            </a:endParaRPr>
          </a:p>
          <a:p>
            <a:pPr marL="514350" indent="-514350">
              <a:buAutoNum type="alphaLcPeriod"/>
            </a:pPr>
            <a:r>
              <a:rPr lang="en-US" sz="2000">
                <a:ea typeface="+mn-lt"/>
                <a:cs typeface="+mn-lt"/>
              </a:rPr>
              <a:t>file_utils.py</a:t>
            </a:r>
            <a:endParaRPr lang="en-US" sz="2000">
              <a:cs typeface="Calibri"/>
            </a:endParaRPr>
          </a:p>
          <a:p>
            <a:pPr marL="514350" indent="-514350">
              <a:buAutoNum type="alphaLcPeriod"/>
            </a:pPr>
            <a:r>
              <a:rPr lang="en-US" sz="2000">
                <a:ea typeface="+mn-lt"/>
                <a:cs typeface="+mn-lt"/>
              </a:rPr>
              <a:t>output_files_tree_view.py</a:t>
            </a:r>
            <a:endParaRPr lang="en-US" sz="2000">
              <a:cs typeface="Calibri"/>
            </a:endParaRPr>
          </a:p>
          <a:p>
            <a:pPr marL="514350" indent="-514350">
              <a:buAutoNum type="alphaLcPeriod"/>
            </a:pPr>
            <a:endParaRPr lang="en-US" sz="2000">
              <a:cs typeface="Calibri"/>
            </a:endParaRPr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473C9D42-5B4F-8E0C-05CC-7435CA7D4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6425" y="1472898"/>
            <a:ext cx="6257925" cy="4674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763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287F4-E3EA-0C81-068F-0FC0FE91F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Contd...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CE7AB-E182-7DB5-0166-4884638DA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Calculation_dialog.py Class '</a:t>
            </a:r>
            <a:r>
              <a:rPr lang="en-US" sz="2400" err="1">
                <a:solidFill>
                  <a:srgbClr val="1F2328"/>
                </a:solidFill>
                <a:ea typeface="+mn-lt"/>
                <a:cs typeface="+mn-lt"/>
              </a:rPr>
              <a:t>CalculationDialog</a:t>
            </a:r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' (inherits '</a:t>
            </a:r>
            <a:r>
              <a:rPr lang="en-US" sz="2400" err="1">
                <a:solidFill>
                  <a:srgbClr val="1F2328"/>
                </a:solidFill>
                <a:ea typeface="+mn-lt"/>
                <a:cs typeface="+mn-lt"/>
              </a:rPr>
              <a:t>QDialog</a:t>
            </a:r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'): This class is a GUI component for handling calculations. It includes:  </a:t>
            </a:r>
            <a:endParaRPr lang="en-US" sz="240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endParaRPr lang="en-US" sz="2400">
              <a:solidFill>
                <a:srgbClr val="1F2328"/>
              </a:solidFill>
              <a:ea typeface="+mn-lt"/>
              <a:cs typeface="+mn-lt"/>
            </a:endParaRPr>
          </a:p>
          <a:p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An '</a:t>
            </a:r>
            <a:r>
              <a:rPr lang="en-US" sz="2400" b="1" err="1">
                <a:solidFill>
                  <a:srgbClr val="1F2328"/>
                </a:solidFill>
                <a:ea typeface="+mn-lt"/>
                <a:cs typeface="+mn-lt"/>
              </a:rPr>
              <a:t>init</a:t>
            </a:r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' method to initialize the dialog with a file path. </a:t>
            </a:r>
            <a:endParaRPr lang="en-US" sz="2400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sz="2400">
              <a:solidFill>
                <a:srgbClr val="1F2328"/>
              </a:solidFill>
              <a:ea typeface="+mn-lt"/>
              <a:cs typeface="+mn-lt"/>
            </a:endParaRPr>
          </a:p>
          <a:p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'</a:t>
            </a:r>
            <a:r>
              <a:rPr lang="en-US" sz="2400" err="1">
                <a:solidFill>
                  <a:srgbClr val="1F2328"/>
                </a:solidFill>
                <a:ea typeface="+mn-lt"/>
                <a:cs typeface="+mn-lt"/>
              </a:rPr>
              <a:t>initUI</a:t>
            </a:r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' method for setting up user interface elements. </a:t>
            </a:r>
            <a:endParaRPr lang="en-US" sz="240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endParaRPr lang="en-US" sz="2400">
              <a:solidFill>
                <a:srgbClr val="1F2328"/>
              </a:solidFill>
              <a:ea typeface="+mn-lt"/>
              <a:cs typeface="+mn-lt"/>
            </a:endParaRPr>
          </a:p>
          <a:p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'</a:t>
            </a:r>
            <a:r>
              <a:rPr lang="en-US" sz="2400" err="1">
                <a:solidFill>
                  <a:srgbClr val="1F2328"/>
                </a:solidFill>
                <a:ea typeface="+mn-lt"/>
                <a:cs typeface="+mn-lt"/>
              </a:rPr>
              <a:t>runProcessing</a:t>
            </a:r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' for performing data processing tasks, which includes steps like CSV file reading, grid generation, 3D array processing, and calculations of magnitude and phase. d. '</a:t>
            </a:r>
            <a:r>
              <a:rPr lang="en-US" sz="2400" err="1">
                <a:solidFill>
                  <a:srgbClr val="1F2328"/>
                </a:solidFill>
                <a:ea typeface="+mn-lt"/>
                <a:cs typeface="+mn-lt"/>
              </a:rPr>
              <a:t>appendStatus</a:t>
            </a:r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' method for updating the dialog with messages to display calculation progress</a:t>
            </a:r>
            <a:endParaRPr lang="en-US" sz="2400">
              <a:ea typeface="+mn-lt"/>
              <a:cs typeface="+mn-lt"/>
            </a:endParaRPr>
          </a:p>
          <a:p>
            <a:pPr marL="0" indent="0">
              <a:buNone/>
            </a:pPr>
            <a:br>
              <a:rPr lang="en-US"/>
            </a:br>
            <a:endParaRPr lang="en-US">
              <a:cs typeface="Calibri" panose="020F0502020204030204"/>
            </a:endParaRPr>
          </a:p>
          <a:p>
            <a:endParaRPr lang="en-US" sz="2400">
              <a:solidFill>
                <a:srgbClr val="1F2328"/>
              </a:solidFill>
              <a:cs typeface="Calibri"/>
            </a:endParaRPr>
          </a:p>
          <a:p>
            <a:endParaRPr lang="en-US" sz="2400">
              <a:solidFill>
                <a:srgbClr val="1F2328"/>
              </a:solidFill>
              <a:cs typeface="Calibri"/>
            </a:endParaRPr>
          </a:p>
          <a:p>
            <a:pPr marL="0" indent="0">
              <a:buNone/>
            </a:pPr>
            <a:endParaRPr lang="en-US" sz="2400">
              <a:solidFill>
                <a:srgbClr val="1F2328"/>
              </a:solidFill>
              <a:cs typeface="Calibri"/>
            </a:endParaRPr>
          </a:p>
          <a:p>
            <a:pPr marL="0" indent="0">
              <a:buNone/>
            </a:pPr>
            <a:endParaRPr lang="en-US" sz="2400">
              <a:solidFill>
                <a:srgbClr val="1F2328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5321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BBE0F-F66D-FF1F-6EB4-0561CA695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Contd...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17DB2-76CF-2D3C-EC60-371AA8AB7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00013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data_entry.py' a. Class '</a:t>
            </a:r>
            <a:r>
              <a:rPr lang="en-US" sz="2400" err="1">
                <a:solidFill>
                  <a:srgbClr val="1F2328"/>
                </a:solidFill>
                <a:ea typeface="+mn-lt"/>
                <a:cs typeface="+mn-lt"/>
              </a:rPr>
              <a:t>DataEntry</a:t>
            </a:r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': This class contains the properties ID, phase, position, and orientation of the transducers</a:t>
            </a:r>
          </a:p>
          <a:p>
            <a:endParaRPr lang="en-US" sz="2400">
              <a:solidFill>
                <a:srgbClr val="1F2328"/>
              </a:solidFill>
              <a:cs typeface="Calibri"/>
            </a:endParaRPr>
          </a:p>
          <a:p>
            <a:pPr marL="0" indent="0">
              <a:buNone/>
            </a:pPr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Data_entry_tree_view.py' Class '</a:t>
            </a:r>
            <a:r>
              <a:rPr lang="en-US" sz="2400" err="1">
                <a:solidFill>
                  <a:srgbClr val="1F2328"/>
                </a:solidFill>
                <a:ea typeface="+mn-lt"/>
                <a:cs typeface="+mn-lt"/>
              </a:rPr>
              <a:t>DataEntryTreeView</a:t>
            </a:r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' (inherits '</a:t>
            </a:r>
            <a:r>
              <a:rPr lang="en-US" sz="2400" err="1">
                <a:solidFill>
                  <a:srgbClr val="1F2328"/>
                </a:solidFill>
                <a:ea typeface="+mn-lt"/>
                <a:cs typeface="+mn-lt"/>
              </a:rPr>
              <a:t>QTreeView</a:t>
            </a:r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'): A specialized tree view for displaying data entries. It includes : </a:t>
            </a:r>
          </a:p>
          <a:p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'</a:t>
            </a:r>
            <a:r>
              <a:rPr lang="en-US" sz="2400" err="1">
                <a:solidFill>
                  <a:srgbClr val="1F2328"/>
                </a:solidFill>
                <a:ea typeface="+mn-lt"/>
                <a:cs typeface="+mn-lt"/>
              </a:rPr>
              <a:t>contextMenuEvent</a:t>
            </a:r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' for handling right-click menu actions. </a:t>
            </a:r>
          </a:p>
          <a:p>
            <a:endParaRPr lang="en-US" sz="2400">
              <a:solidFill>
                <a:srgbClr val="1F2328"/>
              </a:solidFill>
              <a:ea typeface="+mn-lt"/>
              <a:cs typeface="+mn-lt"/>
            </a:endParaRPr>
          </a:p>
          <a:p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Methods like '</a:t>
            </a:r>
            <a:r>
              <a:rPr lang="en-US" sz="2400" err="1">
                <a:solidFill>
                  <a:srgbClr val="1F2328"/>
                </a:solidFill>
                <a:ea typeface="+mn-lt"/>
                <a:cs typeface="+mn-lt"/>
              </a:rPr>
              <a:t>viewFile</a:t>
            </a:r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', '</a:t>
            </a:r>
            <a:r>
              <a:rPr lang="en-US" sz="2400" err="1">
                <a:solidFill>
                  <a:srgbClr val="1F2328"/>
                </a:solidFill>
                <a:ea typeface="+mn-lt"/>
                <a:cs typeface="+mn-lt"/>
              </a:rPr>
              <a:t>calculateFile</a:t>
            </a:r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', and '</a:t>
            </a:r>
            <a:r>
              <a:rPr lang="en-US" sz="2400" err="1">
                <a:solidFill>
                  <a:srgbClr val="1F2328"/>
                </a:solidFill>
                <a:ea typeface="+mn-lt"/>
                <a:cs typeface="+mn-lt"/>
              </a:rPr>
              <a:t>deleteFile</a:t>
            </a:r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', interactive features for file manipulation within the UI</a:t>
            </a:r>
            <a:endParaRPr lang="en-US" sz="2400">
              <a:solidFill>
                <a:srgbClr val="1F2328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81554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4318E-B349-F75F-6E1D-68A964359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Contd...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68C30-F6AB-8F04-AAA9-84497F6A7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Data_processsing.py' Functions for data processing: Includes several standalone functions and a class for data processing: </a:t>
            </a:r>
            <a:endParaRPr lang="en-US" sz="240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'</a:t>
            </a:r>
            <a:r>
              <a:rPr lang="en-US" sz="2400" err="1">
                <a:solidFill>
                  <a:srgbClr val="1F2328"/>
                </a:solidFill>
                <a:ea typeface="+mn-lt"/>
                <a:cs typeface="+mn-lt"/>
              </a:rPr>
              <a:t>generate_grid</a:t>
            </a:r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', '</a:t>
            </a:r>
            <a:r>
              <a:rPr lang="en-US" sz="2400" err="1">
                <a:solidFill>
                  <a:srgbClr val="1F2328"/>
                </a:solidFill>
                <a:ea typeface="+mn-lt"/>
                <a:cs typeface="+mn-lt"/>
              </a:rPr>
              <a:t>process_grid_chunk</a:t>
            </a:r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', and 'process_3d_array' for handling 3D spatial data. </a:t>
            </a:r>
            <a:endParaRPr lang="en-US" sz="240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endParaRPr lang="en-US" sz="2400">
              <a:solidFill>
                <a:srgbClr val="1F2328"/>
              </a:solidFill>
              <a:ea typeface="+mn-lt"/>
              <a:cs typeface="+mn-lt"/>
            </a:endParaRPr>
          </a:p>
          <a:p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 '</a:t>
            </a:r>
            <a:r>
              <a:rPr lang="en-US" sz="2400" err="1">
                <a:solidFill>
                  <a:srgbClr val="1F2328"/>
                </a:solidFill>
                <a:ea typeface="+mn-lt"/>
                <a:cs typeface="+mn-lt"/>
              </a:rPr>
              <a:t>calculate_magnitude_phase</a:t>
            </a:r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' for post-processing results. </a:t>
            </a:r>
            <a:endParaRPr lang="en-US" sz="240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endParaRPr lang="en-US" sz="2400">
              <a:solidFill>
                <a:srgbClr val="1F2328"/>
              </a:solidFill>
              <a:ea typeface="+mn-lt"/>
              <a:cs typeface="+mn-lt"/>
            </a:endParaRPr>
          </a:p>
          <a:p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 Class '</a:t>
            </a:r>
            <a:r>
              <a:rPr lang="en-US" sz="2400" err="1">
                <a:solidFill>
                  <a:srgbClr val="1F2328"/>
                </a:solidFill>
                <a:ea typeface="+mn-lt"/>
                <a:cs typeface="+mn-lt"/>
              </a:rPr>
              <a:t>DataProcessor</a:t>
            </a:r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': Methods like '</a:t>
            </a:r>
            <a:r>
              <a:rPr lang="en-US" sz="2400" err="1">
                <a:solidFill>
                  <a:srgbClr val="1F2328"/>
                </a:solidFill>
                <a:ea typeface="+mn-lt"/>
                <a:cs typeface="+mn-lt"/>
              </a:rPr>
              <a:t>filter_data_by_z</a:t>
            </a:r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' and '</a:t>
            </a:r>
            <a:r>
              <a:rPr lang="en-US" sz="2400" err="1">
                <a:solidFill>
                  <a:srgbClr val="1F2328"/>
                </a:solidFill>
                <a:ea typeface="+mn-lt"/>
                <a:cs typeface="+mn-lt"/>
              </a:rPr>
              <a:t>get_xyz_from_data</a:t>
            </a:r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' indicate functionalities for filtering and extracting spatial data.</a:t>
            </a:r>
            <a:endParaRPr lang="en-US" sz="2400">
              <a:cs typeface="Calibri" panose="020F0502020204030204"/>
            </a:endParaRPr>
          </a:p>
          <a:p>
            <a:endParaRPr lang="en-US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30454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251AB-FC7F-A730-6394-F3176CBB6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23A52-D14D-1231-33A3-791BAD93C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95747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File_operations.py' File related operations: </a:t>
            </a:r>
            <a:endParaRPr lang="en-US" sz="240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 '</a:t>
            </a:r>
            <a:r>
              <a:rPr lang="en-US" sz="2400" err="1">
                <a:solidFill>
                  <a:srgbClr val="1F2328"/>
                </a:solidFill>
                <a:ea typeface="+mn-lt"/>
                <a:cs typeface="+mn-lt"/>
              </a:rPr>
              <a:t>read_csv</a:t>
            </a:r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' for reading CSV files with unit conversion (meters to millimeters). </a:t>
            </a:r>
            <a:endParaRPr lang="en-US" sz="2400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sz="2400">
              <a:solidFill>
                <a:srgbClr val="1F2328"/>
              </a:solidFill>
              <a:ea typeface="+mn-lt"/>
              <a:cs typeface="+mn-lt"/>
            </a:endParaRPr>
          </a:p>
          <a:p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 '</a:t>
            </a:r>
            <a:r>
              <a:rPr lang="en-US" sz="2400" err="1">
                <a:solidFill>
                  <a:srgbClr val="1F2328"/>
                </a:solidFill>
                <a:ea typeface="+mn-lt"/>
                <a:cs typeface="+mn-lt"/>
              </a:rPr>
              <a:t>export_results_to_csv</a:t>
            </a:r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' for exporting processed data. </a:t>
            </a:r>
            <a:endParaRPr lang="en-US" sz="2400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sz="2400">
              <a:solidFill>
                <a:srgbClr val="1F2328"/>
              </a:solidFill>
              <a:ea typeface="+mn-lt"/>
              <a:cs typeface="+mn-lt"/>
            </a:endParaRPr>
          </a:p>
          <a:p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 '</a:t>
            </a:r>
            <a:r>
              <a:rPr lang="en-US" sz="2400" err="1">
                <a:solidFill>
                  <a:srgbClr val="1F2328"/>
                </a:solidFill>
                <a:ea typeface="+mn-lt"/>
                <a:cs typeface="+mn-lt"/>
              </a:rPr>
              <a:t>copy_files_to_folder</a:t>
            </a:r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' for file management</a:t>
            </a:r>
            <a:endParaRPr lang="en-US" sz="24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11066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F3AC0-2957-D888-4B74-7993E81A2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Contd...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C287A-C0E2-D969-3EF6-BF9498A06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3920"/>
            <a:ext cx="10526805" cy="45530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Main_application.py' Class '</a:t>
            </a:r>
            <a:r>
              <a:rPr lang="en-US" sz="2400" err="1">
                <a:solidFill>
                  <a:srgbClr val="1F2328"/>
                </a:solidFill>
                <a:ea typeface="+mn-lt"/>
                <a:cs typeface="+mn-lt"/>
              </a:rPr>
              <a:t>MainApplication</a:t>
            </a:r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' (inherits '</a:t>
            </a:r>
            <a:r>
              <a:rPr lang="en-US" sz="2400" err="1">
                <a:solidFill>
                  <a:srgbClr val="1F2328"/>
                </a:solidFill>
                <a:ea typeface="+mn-lt"/>
                <a:cs typeface="+mn-lt"/>
              </a:rPr>
              <a:t>QMainWindow</a:t>
            </a:r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'): The central class for the application's UI. </a:t>
            </a:r>
            <a:endParaRPr lang="en-US" sz="240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 Methods for UI initialization ('</a:t>
            </a:r>
            <a:r>
              <a:rPr lang="en-US" sz="2400" err="1">
                <a:solidFill>
                  <a:srgbClr val="1F2328"/>
                </a:solidFill>
                <a:ea typeface="+mn-lt"/>
                <a:cs typeface="+mn-lt"/>
              </a:rPr>
              <a:t>initUI</a:t>
            </a:r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'), settings dialog ('</a:t>
            </a:r>
            <a:r>
              <a:rPr lang="en-US" sz="2400" err="1">
                <a:solidFill>
                  <a:srgbClr val="1F2328"/>
                </a:solidFill>
                <a:ea typeface="+mn-lt"/>
                <a:cs typeface="+mn-lt"/>
              </a:rPr>
              <a:t>showSettingsDialog</a:t>
            </a:r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'), file import ('</a:t>
            </a:r>
            <a:r>
              <a:rPr lang="en-US" sz="2400" err="1">
                <a:solidFill>
                  <a:srgbClr val="1F2328"/>
                </a:solidFill>
                <a:ea typeface="+mn-lt"/>
                <a:cs typeface="+mn-lt"/>
              </a:rPr>
              <a:t>importFiles</a:t>
            </a:r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'), help dialog ('</a:t>
            </a:r>
            <a:r>
              <a:rPr lang="en-US" sz="2400" err="1">
                <a:solidFill>
                  <a:srgbClr val="1F2328"/>
                </a:solidFill>
                <a:ea typeface="+mn-lt"/>
                <a:cs typeface="+mn-lt"/>
              </a:rPr>
              <a:t>showHelpPopup</a:t>
            </a:r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'), and data visualization ('</a:t>
            </a:r>
            <a:r>
              <a:rPr lang="en-US" sz="2400" err="1">
                <a:solidFill>
                  <a:srgbClr val="1F2328"/>
                </a:solidFill>
                <a:ea typeface="+mn-lt"/>
                <a:cs typeface="+mn-lt"/>
              </a:rPr>
              <a:t>visualizeData</a:t>
            </a:r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'). </a:t>
            </a:r>
            <a:endParaRPr lang="en-US" sz="240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endParaRPr lang="en-US" sz="2400">
              <a:solidFill>
                <a:srgbClr val="1F2328"/>
              </a:solidFill>
              <a:ea typeface="+mn-lt"/>
              <a:cs typeface="+mn-lt"/>
            </a:endParaRPr>
          </a:p>
          <a:p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 '</a:t>
            </a:r>
            <a:r>
              <a:rPr lang="en-US" sz="2400" err="1">
                <a:solidFill>
                  <a:srgbClr val="1F2328"/>
                </a:solidFill>
                <a:ea typeface="+mn-lt"/>
                <a:cs typeface="+mn-lt"/>
              </a:rPr>
              <a:t>clearLayout</a:t>
            </a:r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' for UI management, including dynamic UI updates. </a:t>
            </a:r>
            <a:endParaRPr lang="en-US" sz="2400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sz="2400">
              <a:solidFill>
                <a:srgbClr val="1F2328"/>
              </a:solidFill>
              <a:ea typeface="+mn-lt"/>
              <a:cs typeface="+mn-lt"/>
            </a:endParaRPr>
          </a:p>
          <a:p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 Class '</a:t>
            </a:r>
            <a:r>
              <a:rPr lang="en-US" sz="2400" err="1">
                <a:solidFill>
                  <a:srgbClr val="1F2328"/>
                </a:solidFill>
                <a:ea typeface="+mn-lt"/>
                <a:cs typeface="+mn-lt"/>
              </a:rPr>
              <a:t>SettingsDialog</a:t>
            </a:r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' (inherits '</a:t>
            </a:r>
            <a:r>
              <a:rPr lang="en-US" sz="2400" err="1">
                <a:solidFill>
                  <a:srgbClr val="1F2328"/>
                </a:solidFill>
                <a:ea typeface="+mn-lt"/>
                <a:cs typeface="+mn-lt"/>
              </a:rPr>
              <a:t>QDialog</a:t>
            </a:r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'): For handling application settings, with methods for retrieving settings</a:t>
            </a:r>
            <a:endParaRPr lang="en-US" sz="24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02435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39830-033F-10F0-53E3-04A19E944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Contd...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61270-786E-C2EA-B6BB-0BE05637B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'file_utils.py' Class '</a:t>
            </a:r>
            <a:r>
              <a:rPr lang="en-US" err="1">
                <a:ea typeface="+mn-lt"/>
                <a:cs typeface="+mn-lt"/>
              </a:rPr>
              <a:t>FileUtils</a:t>
            </a:r>
            <a:r>
              <a:rPr lang="en-US">
                <a:ea typeface="+mn-lt"/>
                <a:cs typeface="+mn-lt"/>
              </a:rPr>
              <a:t>': Contains utility methods like '</a:t>
            </a:r>
            <a:r>
              <a:rPr lang="en-US" err="1">
                <a:ea typeface="+mn-lt"/>
                <a:cs typeface="+mn-lt"/>
              </a:rPr>
              <a:t>deleteFile</a:t>
            </a:r>
            <a:r>
              <a:rPr lang="en-US">
                <a:ea typeface="+mn-lt"/>
                <a:cs typeface="+mn-lt"/>
              </a:rPr>
              <a:t>', providing basic file manipulation functionalities.</a:t>
            </a:r>
            <a:endParaRPr lang="en-US"/>
          </a:p>
          <a:p>
            <a:pPr marL="0" indent="0">
              <a:buNone/>
            </a:pPr>
            <a:endParaRPr lang="en-US" sz="2400">
              <a:cs typeface="Calibri"/>
            </a:endParaRPr>
          </a:p>
          <a:p>
            <a:pPr marL="0" indent="0">
              <a:buNone/>
            </a:pPr>
            <a:endParaRPr lang="en-US" sz="240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output_files_tree_view.py' Class '</a:t>
            </a:r>
            <a:r>
              <a:rPr lang="en-US" sz="2400" err="1">
                <a:solidFill>
                  <a:srgbClr val="1F2328"/>
                </a:solidFill>
                <a:ea typeface="+mn-lt"/>
                <a:cs typeface="+mn-lt"/>
              </a:rPr>
              <a:t>OutputFilesTreeView</a:t>
            </a:r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' (inherits '</a:t>
            </a:r>
            <a:r>
              <a:rPr lang="en-US" sz="2400" err="1">
                <a:solidFill>
                  <a:srgbClr val="1F2328"/>
                </a:solidFill>
                <a:ea typeface="+mn-lt"/>
                <a:cs typeface="+mn-lt"/>
              </a:rPr>
              <a:t>QTreeView</a:t>
            </a:r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'): Similar to '</a:t>
            </a:r>
            <a:r>
              <a:rPr lang="en-US" sz="2400" err="1">
                <a:solidFill>
                  <a:srgbClr val="1F2328"/>
                </a:solidFill>
                <a:ea typeface="+mn-lt"/>
                <a:cs typeface="+mn-lt"/>
              </a:rPr>
              <a:t>DataEntryTreeView</a:t>
            </a:r>
            <a:r>
              <a:rPr lang="en-US" sz="2400">
                <a:solidFill>
                  <a:srgbClr val="1F2328"/>
                </a:solidFill>
                <a:ea typeface="+mn-lt"/>
                <a:cs typeface="+mn-lt"/>
              </a:rPr>
              <a:t>', it's tailored for output file management with context menu actions and file manipulation methods in the output files tab. </a:t>
            </a:r>
            <a:endParaRPr lang="en-US" sz="24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0431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345733-D8FA-0848-B76E-1E534B1D2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Implementation 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A8DD95-FCBC-B144-AE89-FAB980D9AA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 Uses soundwaves and calculates the pressure amplitude by calculating the contribution of each soundwave at each point.</a:t>
            </a:r>
            <a:endParaRPr lang="en-US">
              <a:cs typeface="Calibri"/>
            </a:endParaRPr>
          </a:p>
          <a:p>
            <a:r>
              <a:rPr lang="en-US"/>
              <a:t>As well as complex exponential to give phase but isn’t visualized</a:t>
            </a:r>
          </a:p>
          <a:p>
            <a:r>
              <a:rPr lang="en-US"/>
              <a:t>Uses Python</a:t>
            </a:r>
          </a:p>
          <a:p>
            <a:pPr lvl="1">
              <a:buFont typeface="Arial" panose="05000000000000000000" pitchFamily="2" charset="2"/>
              <a:buChar char="•"/>
            </a:pPr>
            <a:r>
              <a:rPr lang="en-US"/>
              <a:t>Matplotlib, Pandas, NumPy, PyQt5</a:t>
            </a:r>
            <a:endParaRPr lang="en-US">
              <a:cs typeface="Calibri" panose="020F0502020204030204"/>
            </a:endParaRPr>
          </a:p>
          <a:p>
            <a:pPr lvl="1">
              <a:buFont typeface="Arial" panose="05000000000000000000" pitchFamily="2" charset="2"/>
              <a:buChar char="•"/>
            </a:pPr>
            <a:r>
              <a:rPr lang="en-US"/>
              <a:t>Uses CSV data files.</a:t>
            </a:r>
            <a:endParaRPr lang="en-US">
              <a:cs typeface="Calibri" panose="020F0502020204030204"/>
            </a:endParaRPr>
          </a:p>
          <a:p>
            <a:pPr marL="0" indent="0">
              <a:buNone/>
            </a:pPr>
            <a:endParaRPr lang="en-US"/>
          </a:p>
        </p:txBody>
      </p:sp>
      <p:pic>
        <p:nvPicPr>
          <p:cNvPr id="6" name="Content Placeholder 5" descr="A graph of an amplification&#10;&#10;Description automatically generated">
            <a:extLst>
              <a:ext uri="{FF2B5EF4-FFF2-40B4-BE49-F238E27FC236}">
                <a16:creationId xmlns:a16="http://schemas.microsoft.com/office/drawing/2014/main" id="{E6EFA34C-3EAB-9DDA-7DD5-7523DB10307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789358" y="1261873"/>
            <a:ext cx="6402642" cy="3478078"/>
          </a:xfrm>
        </p:spPr>
      </p:pic>
    </p:spTree>
    <p:extLst>
      <p:ext uri="{BB962C8B-B14F-4D97-AF65-F5344CB8AC3E}">
        <p14:creationId xmlns:p14="http://schemas.microsoft.com/office/powerpoint/2010/main" val="2826804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A39A6-B4FA-08B4-3A45-4CB03EB32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That’s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12C9A-E435-EF80-07D4-7FCDFB0EB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Thanks for Watching!</a:t>
            </a:r>
          </a:p>
          <a:p>
            <a:r>
              <a:rPr lang="en-US">
                <a:hlinkClick r:id="rId2"/>
              </a:rPr>
              <a:t>https://github.com/Kyouryoku8/LargeUltrasonicSim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11782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SU Template - Accessible" id="{C9EEBB27-A160-0549-93BB-57AA507F1703}" vid="{32148866-FC3F-5F4F-BF9C-13255541B68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85A5FF1E07C4F4798B5742354D9B4B7" ma:contentTypeVersion="3" ma:contentTypeDescription="Create a new document." ma:contentTypeScope="" ma:versionID="fa5d35615232bd125ab9feed06beb814">
  <xsd:schema xmlns:xsd="http://www.w3.org/2001/XMLSchema" xmlns:xs="http://www.w3.org/2001/XMLSchema" xmlns:p="http://schemas.microsoft.com/office/2006/metadata/properties" xmlns:ns2="62957167-655c-4409-8609-815934e8f9bc" targetNamespace="http://schemas.microsoft.com/office/2006/metadata/properties" ma:root="true" ma:fieldsID="f549cfd982dfb592edf209cbd979dad9" ns2:_="">
    <xsd:import namespace="62957167-655c-4409-8609-815934e8f9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957167-655c-4409-8609-815934e8f9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2BEA6B4-E2D7-4427-9CAF-6535C8AD2CDB}">
  <ds:schemaRefs>
    <ds:schemaRef ds:uri="62957167-655c-4409-8609-815934e8f9b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47CF76C-D8C8-402C-84E5-6A8D07D40A7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44CB26-C3FA-4C5A-A1D8-57B876A7B1CA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647</Words>
  <Application>Microsoft Office PowerPoint</Application>
  <PresentationFormat>Widescreen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-apple-system</vt:lpstr>
      <vt:lpstr>Arial</vt:lpstr>
      <vt:lpstr>Calibri</vt:lpstr>
      <vt:lpstr>Calibri Light</vt:lpstr>
      <vt:lpstr>Times New Roman</vt:lpstr>
      <vt:lpstr>Office Theme</vt:lpstr>
      <vt:lpstr>SIMULATION FOR LARGE ULTRASONIC ARRAYS</vt:lpstr>
      <vt:lpstr>Objective</vt:lpstr>
      <vt:lpstr>Codes</vt:lpstr>
      <vt:lpstr>Contd...</vt:lpstr>
      <vt:lpstr>Contd...</vt:lpstr>
      <vt:lpstr>Contd...</vt:lpstr>
      <vt:lpstr>PowerPoint Presentation</vt:lpstr>
      <vt:lpstr>Contd...</vt:lpstr>
      <vt:lpstr>Contd...</vt:lpstr>
      <vt:lpstr>Implementation </vt:lpstr>
      <vt:lpstr>That’s 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Seth A. Freeman</cp:lastModifiedBy>
  <cp:revision>2</cp:revision>
  <dcterms:created xsi:type="dcterms:W3CDTF">2019-10-07T21:46:27Z</dcterms:created>
  <dcterms:modified xsi:type="dcterms:W3CDTF">2023-12-12T18:58:10Z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0x010100085A5FF1E07C4F4798B5742354D9B4B7</vt:lpwstr>
  </property>
</Properties>
</file>